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59dd80cf364e36" /><Relationship Type="http://schemas.openxmlformats.org/officeDocument/2006/relationships/extended-properties" Target="/docProps/app.xml" Id="Ree290f54ef204367" /><Relationship Type="http://schemas.openxmlformats.org/officeDocument/2006/relationships/officeDocument" Target="/ppt/presentation.xml" Id="Ra62bca8a0aa34a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632a73771649dc"/>
  </p:sldMasterIdLst>
  <p:notesMasterIdLst>
    <p:notesMasterId xmlns:r="http://schemas.openxmlformats.org/officeDocument/2006/relationships" r:id="R43ad08f911f34d50"/>
  </p:notesMasterIdLst>
  <p:sldIdLst>
    <p:sldId xmlns:r="http://schemas.openxmlformats.org/officeDocument/2006/relationships" id="256" r:id="R559e08cd172b4cae"/>
    <p:sldId xmlns:r="http://schemas.openxmlformats.org/officeDocument/2006/relationships" id="257" r:id="R43ddec68831b4004"/>
    <p:sldId xmlns:r="http://schemas.openxmlformats.org/officeDocument/2006/relationships" id="258" r:id="R2862649b3ac74286"/>
    <p:sldId xmlns:r="http://schemas.openxmlformats.org/officeDocument/2006/relationships" id="259" r:id="R8c8e29698c474eda"/>
    <p:sldId xmlns:r="http://schemas.openxmlformats.org/officeDocument/2006/relationships" id="260" r:id="R8e3082f3f1cf492e"/>
    <p:sldId xmlns:r="http://schemas.openxmlformats.org/officeDocument/2006/relationships" id="261" r:id="R84ead52f7cee42c7"/>
    <p:sldId xmlns:r="http://schemas.openxmlformats.org/officeDocument/2006/relationships" id="262" r:id="R1c574412e3ef4e03"/>
    <p:sldId xmlns:r="http://schemas.openxmlformats.org/officeDocument/2006/relationships" id="263" r:id="Rd162540514b942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a913a939c74da0" /><Relationship Type="http://schemas.openxmlformats.org/officeDocument/2006/relationships/slideMaster" Target="/ppt/slideMasters/slideMaster1.xml" Id="R66632a73771649dc" /><Relationship Type="http://schemas.openxmlformats.org/officeDocument/2006/relationships/notesMaster" Target="/ppt/notesMasters/notesMaster1.xml" Id="R43ad08f911f34d50" /><Relationship Type="http://schemas.openxmlformats.org/officeDocument/2006/relationships/presProps" Target="/ppt/presProps.xml" Id="R83bdc961d9034161" /><Relationship Type="http://schemas.openxmlformats.org/officeDocument/2006/relationships/tableStyles" Target="/ppt/tableStyles.xml" Id="R56910899472542e7" /><Relationship Type="http://schemas.openxmlformats.org/officeDocument/2006/relationships/slide" Target="/ppt/slides/slide1.xml" Id="R559e08cd172b4cae" /><Relationship Type="http://schemas.openxmlformats.org/officeDocument/2006/relationships/slide" Target="/ppt/slides/slide2.xml" Id="R43ddec68831b4004" /><Relationship Type="http://schemas.openxmlformats.org/officeDocument/2006/relationships/slide" Target="/ppt/slides/slide3.xml" Id="R2862649b3ac74286" /><Relationship Type="http://schemas.openxmlformats.org/officeDocument/2006/relationships/slide" Target="/ppt/slides/slide4.xml" Id="R8c8e29698c474eda" /><Relationship Type="http://schemas.openxmlformats.org/officeDocument/2006/relationships/slide" Target="/ppt/slides/slide5.xml" Id="R8e3082f3f1cf492e" /><Relationship Type="http://schemas.openxmlformats.org/officeDocument/2006/relationships/slide" Target="/ppt/slides/slide6.xml" Id="R84ead52f7cee42c7" /><Relationship Type="http://schemas.openxmlformats.org/officeDocument/2006/relationships/slide" Target="/ppt/slides/slide7.xml" Id="R1c574412e3ef4e03" /><Relationship Type="http://schemas.openxmlformats.org/officeDocument/2006/relationships/slide" Target="/ppt/slides/slide8.xml" Id="Rd162540514b942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7ac0bbcc5a41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09f051f4774930" /><Relationship Type="http://schemas.openxmlformats.org/officeDocument/2006/relationships/notesMaster" Target="/ppt/notesMasters/notesMaster1.xml" Id="R1eb9e5c2c73f43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14d03e1ce64e16" /><Relationship Type="http://schemas.openxmlformats.org/officeDocument/2006/relationships/notesMaster" Target="/ppt/notesMasters/notesMaster1.xml" Id="R4add6ea92d204f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2f31edbb394495" /><Relationship Type="http://schemas.openxmlformats.org/officeDocument/2006/relationships/notesMaster" Target="/ppt/notesMasters/notesMaster1.xml" Id="Red5fdd08172b4a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97aab60035484c" /><Relationship Type="http://schemas.openxmlformats.org/officeDocument/2006/relationships/notesMaster" Target="/ppt/notesMasters/notesMaster1.xml" Id="R5cb164ecca4a4d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9c483c3bd44eb5" /><Relationship Type="http://schemas.openxmlformats.org/officeDocument/2006/relationships/notesMaster" Target="/ppt/notesMasters/notesMaster1.xml" Id="Rfb538f4cfc854b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368bcb25ea4654" /><Relationship Type="http://schemas.openxmlformats.org/officeDocument/2006/relationships/notesMaster" Target="/ppt/notesMasters/notesMaster1.xml" Id="Rba088327696941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ecaf8ee4984494" /><Relationship Type="http://schemas.openxmlformats.org/officeDocument/2006/relationships/notesMaster" Target="/ppt/notesMasters/notesMaster1.xml" Id="R7f06e7752dbf4e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06bf4aa1034155" /><Relationship Type="http://schemas.openxmlformats.org/officeDocument/2006/relationships/notesMaster" Target="/ppt/notesMasters/notesMaster1.xml" Id="R224fc138313340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0:00–0:35. Представьте: вы возле Бәйтерека и у вас свободен час. Хочется выйти, но нет времени изучать десятки карточек на карте. «Рядом» предлагает короткий план прогулки в Telegram. Сегодня я показываю пилот в одной зоне центра Астаны. Источник постановки задачи: C:/Users/Chach/Downloads/FINAL Задачи_хакатона.docx.pdf, стр. 1–3.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0:35–1:15. Главный вопрос пользователя звучит просто: куда сходить, если есть час? Пользу нужны не длинные описания достопримечательностей, а несколько конкретных мест с объяснением, временем пути и идеей действия. Именно релевантность и учёт контекста стоят первыми в критериях Smart City. Источник: PDF задания, стр. 1–2.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1:15–2:05. В Telegram пользователь открывает Mini App через /start или меню. По умолчанию доступен старт от Бәйтерека, поэтому геопозицией можно не делиться. Затем выбирает 30, 60 или 120 минут, один из фильтров и при желании пишет короткий запрос. Результат показывает до трёх отдельных вариантов. На слайде локальный снимок текущей формы, это не запись опубликованного бота. Источник: README.md и src/client/main.ts в проекте.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2:05–3:00. Я собрал 27 объектов OpenStreetMap в радиусе 2,5 километра вокруг Бәйтерека. Сбор воспроизводится скриптом, а сервер работает с сохранённым каталогом. Короткие описания образованы из тегов OSM или нейтрального шаблона категории, они не являются независимой проверкой. Сначала код отбирает места, которые укладываются в выбранное время по оценке пути в одну сторону и посещения. Модель получает описания только допустимых кандидатов, выбирает ID и может предложить короткую идею действия. Сервер проверяет выбор и идею, собирает факты из POI и помечает принятую идею как «ИДЕЯ ИИ · НЕ ФАКТ О МЕСТЕ». Если модель недоступна, работает детерминированный подбор. Источники: data/README.md, src/worker/recommend.ts, src/worker/ai.ts, scripts/collect-poi.mjs. Лицензия OSM: https://www.openstreetmap.org/copyright.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3:00–4:15. В первом сценарии выбираю Бәйтерек, 30 минут и прогулку на воздухе, пишу «хочу прогуляться по скверу недалеко». Каталог позволяет предложить OSM-объект «Сквер»: около 9 минут пути и 20 минут на остановку. Это оценка, а не фактический маршрут. Во втором выбираю 60 минут и помещение, пишу «хочу кофе». Кафе получают приоритет, но выдача может включать и другие помещения; бот не обещает розетки, тишину или свободные столы. В третьем выбираю 120 минут и «с ребёнком». Эта настройка влияет на ранжирование, но удобства для детей не проверены. После публикации бота можно включить реальную демонстрацию в Telegram. Подробные входы и критерии: deliverables/scenarios-and-limitations.md.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4:15–5:05. Для доверия мы показываем источник каждой точки и прямо маркируем оценки. Каталог не содержит надёжной информации о работе прямо сейчас, поэтому на такой запрос бот отказывает в подтверждении. Время пешком — приблизительный расчёт по прямой с коэффициентом обхода; внешняя карта строит реальный маршрут после нажатия ссылки. Идея от модели помечена отдельно от фактов OSM. Геопозиция не сохраняется в собственной базе, но Telegram и инфраструктурные сервисы обрабатывают данные по своим правилам. Источники: README.md, public/privacy.html, src/worker/index.ts.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5:05–5:55. Для человека бот бесплатен и сокращает путь от вопроса до конкретного места. Возможный покупатель сервиса — туристическая организация или гостиница: им мог бы быть нужен помощник со своим каталогом и сопровождением. Это бизнес-гипотеза, а не проверенная выручка. Сначала нужно проверить, полезны ли ответы реальным пользователям и готов ли партнёр поддерживать качество данных. В пилоте нет данных о пользователях или конверсии.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5:55–6:40. Один участник собрал пилот за день: есть локальный интерфейс, повторяемый сбор данных и 27 POI, логика подбора и тесты. Для публичной демонстрации остаётся подключить Telegram и OpenAI, опубликовать Worker, проверить на телефоне и записать видео для YouTube. Перед масштабированием важнее проверить входы и часы у рекомендуемых объектов. Затем можно расширять покрытие и добавлять точную пешую маршрутизацию. Не называйте прототип публично работающим до реального запуска. Источники: README.md, data/README.md, deliverables/scenarios-and-limitations.md.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4be23b2a8e46a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fb88df66c6494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3b87bf1af1417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5ef86a6cd3476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41863041294ff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01c89bc0c643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90F183-01E1-432E-8DC4-43260F4A3B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9F489CD-7362-4FFB-B4F8-1B0974F5DED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C8CB4F4-66CE-4F68-9888-75380CAE97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71BAC9-A634-492A-B276-C659CC2881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558342C-B929-4A9B-9505-404506B304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CCE2C65-0EC7-4D48-8724-DAC55EF495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1F44587-3F3F-4DD2-89E8-CFD086B85D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4880250-402D-4B95-803D-E28C057ACDE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8CE506E-23C9-454B-A00A-83DD4B7B31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94710C6-941B-45D7-A25E-B3C99A9DF0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6e212b1ace48f4" /><Relationship Type="http://schemas.openxmlformats.org/officeDocument/2006/relationships/slideLayout" Target="/ppt/slideLayouts/slideLayout1.xml" Id="Rebafe799d39c4b2b" /><Relationship Type="http://schemas.openxmlformats.org/officeDocument/2006/relationships/slideLayout" Target="/ppt/slideLayouts/slideLayout2.xml" Id="R3b477a8ce15b431b" /><Relationship Type="http://schemas.openxmlformats.org/officeDocument/2006/relationships/slideLayout" Target="/ppt/slideLayouts/slideLayout3.xml" Id="R79d2bacf6f3443fe" /><Relationship Type="http://schemas.openxmlformats.org/officeDocument/2006/relationships/slideLayout" Target="/ppt/slideLayouts/slideLayout4.xml" Id="Re8e5d1858bea4957" /><Relationship Type="http://schemas.openxmlformats.org/officeDocument/2006/relationships/slideLayout" Target="/ppt/slideLayouts/slideLayout5.xml" Id="R0c534f5d90164ed5" /><Relationship Type="http://schemas.openxmlformats.org/officeDocument/2006/relationships/slideLayout" Target="/ppt/slideLayouts/slideLayout6.xml" Id="R0d28263dacf14c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afe799d39c4b2b"/>
    <p:sldLayoutId xmlns:r="http://schemas.openxmlformats.org/officeDocument/2006/relationships" id="2147483650" r:id="R3b477a8ce15b431b"/>
    <p:sldLayoutId xmlns:r="http://schemas.openxmlformats.org/officeDocument/2006/relationships" id="2147483651" r:id="R79d2bacf6f3443fe"/>
    <p:sldLayoutId xmlns:r="http://schemas.openxmlformats.org/officeDocument/2006/relationships" id="2147483652" r:id="Re8e5d1858bea4957"/>
    <p:sldLayoutId xmlns:r="http://schemas.openxmlformats.org/officeDocument/2006/relationships" id="2147483653" r:id="R0c534f5d90164ed5"/>
    <p:sldLayoutId xmlns:r="http://schemas.openxmlformats.org/officeDocument/2006/relationships" id="2147483654" r:id="R0d28263dacf14c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0cca3c9aa648ac" /><Relationship Type="http://schemas.openxmlformats.org/officeDocument/2006/relationships/notesSlide" Target="/ppt/notesSlides/notesSlide1.xml" Id="R7c5b9622451047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9fdf75d1764611" /><Relationship Type="http://schemas.openxmlformats.org/officeDocument/2006/relationships/notesSlide" Target="/ppt/notesSlides/notesSlide2.xml" Id="R1d64cf31191c4d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f367d4c58f42e0" /><Relationship Type="http://schemas.openxmlformats.org/officeDocument/2006/relationships/image" Target="/ppt/media/image.png" Id="R7656212e4d314cbf" /><Relationship Type="http://schemas.openxmlformats.org/officeDocument/2006/relationships/notesSlide" Target="/ppt/notesSlides/notesSlide3.xml" Id="R22b2979e2e1d48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17f3197ddf4d76" /><Relationship Type="http://schemas.openxmlformats.org/officeDocument/2006/relationships/notesSlide" Target="/ppt/notesSlides/notesSlide4.xml" Id="R7bf6f44e39db4d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55048c8d30432c" /><Relationship Type="http://schemas.openxmlformats.org/officeDocument/2006/relationships/notesSlide" Target="/ppt/notesSlides/notesSlide5.xml" Id="R4795fd45407744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0c778d37454fcd" /><Relationship Type="http://schemas.openxmlformats.org/officeDocument/2006/relationships/notesSlide" Target="/ppt/notesSlides/notesSlide6.xml" Id="Rfea73100a5094c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a88766e9d64e00" /><Relationship Type="http://schemas.openxmlformats.org/officeDocument/2006/relationships/notesSlide" Target="/ppt/notesSlides/notesSlide7.xml" Id="R7d49f103acaa48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d4057ebded4560" /><Relationship Type="http://schemas.openxmlformats.org/officeDocument/2006/relationships/notesSlide" Target="/ppt/notesSlides/notesSlide8.xml" Id="R2bec521b250942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3B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D8E22A-D9EF-48C1-B9FF-BDA02929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D4E5B8"/>
                </a:solidFill>
                <a:latin typeface="Arial"/>
                <a:ea typeface="Arial"/>
                <a:cs typeface="Arial"/>
              </a:rPr>
              <a:t>BUILD WITH AI  /  НИЦ SMART CITY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F63316-9E6F-46D4-BE09-189051FA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857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0" b="0" i="0">
                <a:solidFill>
                  <a:srgbClr val="F4F3EB"/>
                </a:solidFill>
                <a:latin typeface="Georgia"/>
                <a:ea typeface="Georgia"/>
                <a:cs typeface="Georgia"/>
              </a:defRPr>
            </a:defPPr>
            <a:lvl1pPr algn="l">
              <a:defRPr sz="9900" b="0" i="0">
                <a:solidFill>
                  <a:srgbClr val="F4F3E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9900" b="0" i="0">
                <a:solidFill>
                  <a:srgbClr val="F4F3E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9900" b="0" i="0">
                <a:solidFill>
                  <a:srgbClr val="F4F3E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9900" b="0" i="0">
                <a:solidFill>
                  <a:srgbClr val="F4F3E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9900" b="0" i="0">
                <a:solidFill>
                  <a:srgbClr val="F4F3E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9900" b="0" i="0">
                <a:solidFill>
                  <a:srgbClr val="F4F3E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9900" b="0" i="0">
                <a:solidFill>
                  <a:srgbClr val="F4F3E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9900" b="0" i="0">
                <a:solidFill>
                  <a:srgbClr val="F4F3E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9900" b="0" i="0">
                <a:solidFill>
                  <a:srgbClr val="F4F3E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9900" b="0" i="0">
                <a:solidFill>
                  <a:srgbClr val="F4F3EB"/>
                </a:solidFill>
                <a:latin typeface="Georgia"/>
                <a:ea typeface="Georgia"/>
                <a:cs typeface="Georgia"/>
              </a:defRPr>
            </a:pPr>
            <a:r>
              <a:rPr sz="9900" b="0" i="0">
                <a:solidFill>
                  <a:srgbClr val="F4F3EB"/>
                </a:solidFill>
                <a:latin typeface="Georgia"/>
                <a:ea typeface="Georgia"/>
                <a:cs typeface="Georgia"/>
              </a:rPr>
              <a:t>рядом.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28A691-E40B-48E3-8F0F-6AD9E005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8096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0" i="0">
                <a:solidFill>
                  <a:srgbClr val="F4F3EB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0" i="0">
                <a:solidFill>
                  <a:srgbClr val="F4F3EB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0" i="0">
                <a:solidFill>
                  <a:srgbClr val="F4F3EB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0" i="0">
                <a:solidFill>
                  <a:srgbClr val="F4F3EB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0" i="0">
                <a:solidFill>
                  <a:srgbClr val="F4F3EB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0" i="0">
                <a:solidFill>
                  <a:srgbClr val="F4F3EB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0" i="0">
                <a:solidFill>
                  <a:srgbClr val="F4F3EB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0" i="0">
                <a:solidFill>
                  <a:srgbClr val="F4F3EB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0" i="0">
                <a:solidFill>
                  <a:srgbClr val="F4F3EB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0" i="0">
                <a:solidFill>
                  <a:srgbClr val="F4F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925" b="0" i="0">
                <a:solidFill>
                  <a:srgbClr val="F4F3EB"/>
                </a:solidFill>
                <a:latin typeface="Arial"/>
                <a:ea typeface="Arial"/>
                <a:cs typeface="Arial"/>
              </a:defRPr>
            </a:pPr>
            <a:r>
              <a:rPr sz="2925" b="0" i="0">
                <a:solidFill>
                  <a:srgbClr val="F4F3EB"/>
                </a:solidFill>
                <a:latin typeface="Arial"/>
                <a:ea typeface="Arial"/>
                <a:cs typeface="Arial"/>
              </a:rPr>
              <a:t>Идеи для прогулки, которые</a:t>
            </a:r>
          </a:p>
          <a:p xmlns:a="http://schemas.openxmlformats.org/drawingml/2006/main">
            <a:pPr algn="l">
              <a:defRPr sz="2925" b="0" i="0">
                <a:solidFill>
                  <a:srgbClr val="F4F3EB"/>
                </a:solidFill>
                <a:latin typeface="Arial"/>
                <a:ea typeface="Arial"/>
                <a:cs typeface="Arial"/>
              </a:defRPr>
            </a:pPr>
            <a:r>
              <a:rPr sz="2925" b="0" i="0">
                <a:solidFill>
                  <a:srgbClr val="F4F3EB"/>
                </a:solidFill>
                <a:latin typeface="Arial"/>
                <a:ea typeface="Arial"/>
                <a:cs typeface="Arial"/>
              </a:rPr>
              <a:t>укладываются в ваше время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D1313-6F29-49D6-8052-AF8710DB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01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4807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238D2C-7E16-4757-BA63-53319DD1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D4E5B8"/>
                </a:solidFill>
                <a:latin typeface="Arial"/>
                <a:ea typeface="Arial"/>
                <a:cs typeface="Arial"/>
              </a:rPr>
              <a:t>Telegram Mini 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625079-72ED-47B0-8529-66A5E122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6388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defPPr>
            <a:lvl1pPr algn="r">
              <a:defRPr sz="1650" b="0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1pPr>
            <a:lvl2pPr algn="r">
              <a:defRPr sz="1650" b="0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2pPr>
            <a:lvl3pPr algn="r">
              <a:defRPr sz="1650" b="0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3pPr>
            <a:lvl4pPr algn="r">
              <a:defRPr sz="1650" b="0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4pPr>
            <a:lvl5pPr algn="r">
              <a:defRPr sz="1650" b="0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5pPr>
            <a:lvl6pPr algn="r">
              <a:defRPr sz="1650" b="0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6pPr>
            <a:lvl7pPr algn="r">
              <a:defRPr sz="1650" b="0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7pPr>
            <a:lvl8pPr algn="r">
              <a:defRPr sz="1650" b="0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8pPr>
            <a:lvl9pPr algn="r">
              <a:defRPr sz="1650" b="0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50" b="0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D4E5B8"/>
                </a:solidFill>
                <a:latin typeface="Arial"/>
                <a:ea typeface="Arial"/>
                <a:cs typeface="Arial"/>
              </a:rPr>
              <a:t>Пилотная зона: Бәйтерек, Астана</a:t>
            </a:r>
          </a:p>
        </p:txBody>
      </p:sp>
    </p:spTree>
    <p:extLst>
      <p:ext uri="{BB962C8B-B14F-4D97-AF65-F5344CB8AC3E}">
        <p14:creationId xmlns:p14="http://schemas.microsoft.com/office/powerpoint/2010/main" val="10085498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E4EFA-8462-422B-9088-850A2B61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19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defPPr>
            <a:lvl1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pPr>
            <a:r>
              <a: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rPr>
              <a:t>Задача пользователя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D5FC4C-E5F6-4DFC-AEC4-BD7C4FC5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67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524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973CA-C9AA-4225-BCD2-7B02B96C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3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52E14-E669-4F09-B313-2AFF1280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9525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350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defPPr>
            <a:lvl1pPr algn="l">
              <a:defRPr sz="4350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1pPr>
            <a:lvl2pPr algn="l">
              <a:defRPr sz="4350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2pPr>
            <a:lvl3pPr algn="l">
              <a:defRPr sz="4350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3pPr>
            <a:lvl4pPr algn="l">
              <a:defRPr sz="4350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4pPr>
            <a:lvl5pPr algn="l">
              <a:defRPr sz="4350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5pPr>
            <a:lvl6pPr algn="l">
              <a:defRPr sz="4350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6pPr>
            <a:lvl7pPr algn="l">
              <a:defRPr sz="4350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7pPr>
            <a:lvl8pPr algn="l">
              <a:defRPr sz="4350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8pPr>
            <a:lvl9pPr algn="l">
              <a:defRPr sz="4350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4350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pPr>
            <a:r>
              <a:rPr sz="4350" b="0" i="0">
                <a:solidFill>
                  <a:srgbClr val="175242"/>
                </a:solidFill>
                <a:latin typeface="Georgia"/>
                <a:ea typeface="Georgia"/>
                <a:cs typeface="Georgia"/>
              </a:rPr>
              <a:t>«У меня есть час.</a:t>
            </a:r>
          </a:p>
          <a:p xmlns:a="http://schemas.openxmlformats.org/drawingml/2006/main">
            <a:pPr algn="l">
              <a:defRPr sz="4350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pPr>
            <a:r>
              <a:rPr sz="4350" b="0" i="0">
                <a:solidFill>
                  <a:srgbClr val="175242"/>
                </a:solidFill>
                <a:latin typeface="Georgia"/>
                <a:ea typeface="Georgia"/>
                <a:cs typeface="Georgia"/>
              </a:rPr>
              <a:t>Куда пойти рядом?»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9B930C-CF37-41C3-B4CE-97FF85E3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1019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72E2A"/>
                </a:solidFill>
                <a:latin typeface="Arial"/>
                <a:ea typeface="Arial"/>
                <a:cs typeface="Arial"/>
              </a:rPr>
              <a:t>Рекомендация полезна, если место подходит по теме,</a:t>
            </a:r>
          </a:p>
          <a:p xmlns:a="http://schemas.openxmlformats.org/drawingml/2006/main">
            <a:pPr algn="l">
              <a:defRPr sz="2250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72E2A"/>
                </a:solidFill>
                <a:latin typeface="Arial"/>
                <a:ea typeface="Arial"/>
                <a:cs typeface="Arial"/>
              </a:rPr>
              <a:t>до него можно дойти и успеть осмотреть.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E0766E-63B3-47C5-B8E0-6832B1EB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3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A98526-DCB6-41DF-965B-B4A283E7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1083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66E67"/>
                </a:solidFill>
                <a:latin typeface="Arial"/>
                <a:ea typeface="Arial"/>
                <a:cs typeface="Arial"/>
              </a:rPr>
              <a:t>Целевая аудитория пилота: жители и гости центра Астаны.</a:t>
            </a:r>
          </a:p>
        </p:txBody>
      </p:sp>
    </p:spTree>
    <p:extLst>
      <p:ext uri="{BB962C8B-B14F-4D97-AF65-F5344CB8AC3E}">
        <p14:creationId xmlns:p14="http://schemas.microsoft.com/office/powerpoint/2010/main" val="17869769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B9A4AA-77F0-4AF9-982E-D1ED5354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19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defPPr>
            <a:lvl1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pPr>
            <a:r>
              <a: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rPr>
              <a:t>Сценарий в Telegram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4ECF67-9CD2-4942-9CF9-F2FBF110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67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524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31AA6D-D17F-495F-AF92-C46C826C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3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BCC480-40C4-4787-B420-3CD3310B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28800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524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115CEE-5102-4C65-82E6-305A1748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288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72E2A"/>
                </a:solidFill>
                <a:latin typeface="Arial"/>
                <a:ea typeface="Arial"/>
                <a:cs typeface="Arial"/>
              </a:rPr>
              <a:t>Открыть Mini 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BF4BF5-9BFE-4A56-9EB8-71EA85B0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38375"/>
            <a:ext cx="584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66E67"/>
                </a:solidFill>
                <a:latin typeface="Arial"/>
                <a:ea typeface="Arial"/>
                <a:cs typeface="Arial"/>
              </a:rPr>
              <a:t>Команда /start или кнопка меню бота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5951BA-4047-44E8-A389-91B94DD9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524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CC6341-4BFE-40B1-80EB-1BF6D4E0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956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72E2A"/>
                </a:solidFill>
                <a:latin typeface="Arial"/>
                <a:ea typeface="Arial"/>
                <a:cs typeface="Arial"/>
              </a:rPr>
              <a:t>Указать старт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B9DF0B-3D50-4BB5-AD70-D6287858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05175"/>
            <a:ext cx="584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66E67"/>
                </a:solidFill>
                <a:latin typeface="Arial"/>
                <a:ea typeface="Arial"/>
                <a:cs typeface="Arial"/>
              </a:rPr>
              <a:t>Бәйтерек без геопозиции или точка телефона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ACC725-6457-41A3-9D70-133FBF5F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62400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524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54EF50-01C3-4782-B433-D5B1AB4A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624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72E2A"/>
                </a:solidFill>
                <a:latin typeface="Arial"/>
                <a:ea typeface="Arial"/>
                <a:cs typeface="Arial"/>
              </a:rPr>
              <a:t>Выбрать условия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EF2965-A128-4A25-80B3-550412FD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71975"/>
            <a:ext cx="584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66E67"/>
                </a:solidFill>
                <a:latin typeface="Arial"/>
                <a:ea typeface="Arial"/>
                <a:cs typeface="Arial"/>
              </a:rPr>
              <a:t>30, 60 или 120 минут; тема и пожелание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DF8E38-B20B-47C2-AF4D-95F4DF57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524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789084-FF98-4C84-B41F-92CF4D66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292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72E2A"/>
                </a:solidFill>
                <a:latin typeface="Arial"/>
                <a:ea typeface="Arial"/>
                <a:cs typeface="Arial"/>
              </a:rPr>
              <a:t>Получить варианты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3C7524-A19D-4347-A70A-B0EBD047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38775"/>
            <a:ext cx="584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66E67"/>
                </a:solidFill>
                <a:latin typeface="Arial"/>
                <a:ea typeface="Arial"/>
                <a:cs typeface="Arial"/>
              </a:rPr>
              <a:t>1–3 места с причиной, временем и ссылками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EE97F2-0163-4FE9-B85B-D022816BA5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56212e4d314cbf"/>
          <a:srcRect xmlns:a="http://schemas.openxmlformats.org/drawingml/2006/main" l="36" t="0" r="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24800" y="1695450"/>
            <a:ext cx="3162300" cy="43053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0BBC0E-31E4-436A-A7C5-7ECF5A23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3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C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43E6DE-78A6-4EA2-B425-C0C9BD5D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1083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66E67"/>
                </a:solidFill>
                <a:latin typeface="Arial"/>
                <a:ea typeface="Arial"/>
                <a:cs typeface="Arial"/>
              </a:rPr>
              <a:t>Изображение: локальный интерфейс прототипа. Публичный запуск в Telegram требует настройки.</a:t>
            </a:r>
          </a:p>
        </p:txBody>
      </p:sp>
    </p:spTree>
    <p:extLst>
      <p:ext uri="{BB962C8B-B14F-4D97-AF65-F5344CB8AC3E}">
        <p14:creationId xmlns:p14="http://schemas.microsoft.com/office/powerpoint/2010/main" val="12846682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7BDB40-51DD-4AF9-9BFE-C8FB83EB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19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defPPr>
            <a:lvl1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pPr>
            <a:r>
              <a: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rPr>
              <a:t>Как работает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1F4075-1F43-4A7C-BF9D-8A84AAA2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67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524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0BC787-9538-49C8-900C-DD21E992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3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CF55F7-08FE-4D33-9851-9393DCB2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276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02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defPPr>
            <a:lvl1pPr algn="l">
              <a:defRPr sz="802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1pPr>
            <a:lvl2pPr algn="l">
              <a:defRPr sz="802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2pPr>
            <a:lvl3pPr algn="l">
              <a:defRPr sz="802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3pPr>
            <a:lvl4pPr algn="l">
              <a:defRPr sz="802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4pPr>
            <a:lvl5pPr algn="l">
              <a:defRPr sz="802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5pPr>
            <a:lvl6pPr algn="l">
              <a:defRPr sz="802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6pPr>
            <a:lvl7pPr algn="l">
              <a:defRPr sz="802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7pPr>
            <a:lvl8pPr algn="l">
              <a:defRPr sz="802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8pPr>
            <a:lvl9pPr algn="l">
              <a:defRPr sz="802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802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pPr>
            <a:r>
              <a:rPr sz="8025" b="0" i="0">
                <a:solidFill>
                  <a:srgbClr val="175242"/>
                </a:solidFill>
                <a:latin typeface="Georgia"/>
                <a:ea typeface="Georgia"/>
                <a:cs typeface="Georgia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DD599A-3376-4C85-878A-067F833F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004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72E2A"/>
                </a:solidFill>
                <a:latin typeface="Arial"/>
                <a:ea typeface="Arial"/>
                <a:cs typeface="Arial"/>
              </a:rPr>
              <a:t>реальных POI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D865F5-23A5-4DCE-B8A0-DD0410E8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838575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66E67"/>
                </a:solidFill>
                <a:latin typeface="Arial"/>
                <a:ea typeface="Arial"/>
                <a:cs typeface="Arial"/>
              </a:rPr>
              <a:t>Пилот: радиус 2,5 км</a:t>
            </a:r>
          </a:p>
          <a:p xmlns:a="http://schemas.openxmlformats.org/drawingml/2006/main">
            <a:pPr algn="l">
              <a:defRPr sz="180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66E67"/>
                </a:solidFill>
                <a:latin typeface="Arial"/>
                <a:ea typeface="Arial"/>
                <a:cs typeface="Arial"/>
              </a:rPr>
              <a:t>вокруг Бәйтерека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EB9638-6445-444F-8EC2-A46FB2C3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8097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A3CE7D-F981-4981-B799-36578F80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47850"/>
            <a:ext cx="161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5242"/>
                </a:solidFill>
                <a:latin typeface="Arial"/>
                <a:ea typeface="Arial"/>
                <a:cs typeface="Arial"/>
              </a:rPr>
              <a:t>Сбор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EC6913-7671-452A-9873-E49997AD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66900"/>
            <a:ext cx="5095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2E2A"/>
                </a:solidFill>
                <a:latin typeface="Arial"/>
                <a:ea typeface="Arial"/>
                <a:cs typeface="Arial"/>
              </a:rPr>
              <a:t>Скрипт получает OSM-объекты и создаёт короткие описания.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EF8420-6BC1-4BD3-B3E3-0DC4302A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95600"/>
            <a:ext cx="161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5242"/>
                </a:solidFill>
                <a:latin typeface="Arial"/>
                <a:ea typeface="Arial"/>
                <a:cs typeface="Arial"/>
              </a:rPr>
              <a:t>Отбор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FBF71B-67F0-4592-9A18-451C6A02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14650"/>
            <a:ext cx="5095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2E2A"/>
                </a:solidFill>
                <a:latin typeface="Arial"/>
                <a:ea typeface="Arial"/>
                <a:cs typeface="Arial"/>
              </a:rPr>
              <a:t>Сервер проверяет тему, путь и время посещения.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88BE48-09C5-4A53-BB41-3386E2B0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943350"/>
            <a:ext cx="161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5242"/>
                </a:solidFill>
                <a:latin typeface="Arial"/>
                <a:ea typeface="Arial"/>
                <a:cs typeface="Arial"/>
              </a:rPr>
              <a:t>ИИ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594A98-FD0F-446D-AA07-7D18F166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62400"/>
            <a:ext cx="5095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2E2A"/>
                </a:solidFill>
                <a:latin typeface="Arial"/>
                <a:ea typeface="Arial"/>
                <a:cs typeface="Arial"/>
              </a:rPr>
              <a:t>Модель видит кандидатов, выбирает ID и может предложить идею.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05DDCB-5E77-4D45-A3E5-2BFDF6E8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991100"/>
            <a:ext cx="161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5242"/>
                </a:solidFill>
                <a:latin typeface="Arial"/>
                <a:ea typeface="Arial"/>
                <a:cs typeface="Arial"/>
              </a:rPr>
              <a:t>Ответ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A9009C-83B2-4245-9518-4C5084E6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5095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2E2A"/>
                </a:solidFill>
                <a:latin typeface="Arial"/>
                <a:ea typeface="Arial"/>
                <a:cs typeface="Arial"/>
              </a:rPr>
              <a:t>Сервер проверяет выбор и отделяет идею от фактов POI.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67A2DE-9E2B-4496-BBCC-B678F187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3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C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477BA4-9425-4576-BC70-16564A1B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1083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66E67"/>
                </a:solidFill>
                <a:latin typeface="Arial"/>
                <a:ea typeface="Arial"/>
                <a:cs typeface="Arial"/>
              </a:rPr>
              <a:t>Данные: © участники OpenStreetMap, ODbL. Периодический сбор, не запрос к Overpass на каждый чат.</a:t>
            </a:r>
          </a:p>
        </p:txBody>
      </p:sp>
    </p:spTree>
    <p:extLst>
      <p:ext uri="{BB962C8B-B14F-4D97-AF65-F5344CB8AC3E}">
        <p14:creationId xmlns:p14="http://schemas.microsoft.com/office/powerpoint/2010/main" val="6416046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A75058-6F90-426F-BF7D-016E758A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19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defPPr>
            <a:lvl1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pPr>
            <a:r>
              <a: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rPr>
              <a:t>Три сценария для проверки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049C3-C109-4706-976D-C1BF4C5C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67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524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B01141-B739-42AC-8C33-D8DEBBB5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3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397C07-C2DE-4E94-A3F8-0A969EE6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431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defPPr>
            <a:lvl1pPr algn="l">
              <a:defRPr sz="247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47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47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47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47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47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47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47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47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47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pPr>
            <a:r>
              <a:rPr sz="2475" b="0" i="0">
                <a:solidFill>
                  <a:srgbClr val="175242"/>
                </a:solidFill>
                <a:latin typeface="Georgia"/>
                <a:ea typeface="Georgia"/>
                <a:cs typeface="Georgia"/>
              </a:rPr>
              <a:t>30 минут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AF9449-9426-498D-947B-1C8CEFB9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94310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2E2A"/>
                </a:solidFill>
                <a:latin typeface="Arial"/>
                <a:ea typeface="Arial"/>
                <a:cs typeface="Arial"/>
              </a:rPr>
              <a:t>На воздухе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34A636-8A02-43CF-969C-D4704826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09825"/>
            <a:ext cx="8096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66E67"/>
                </a:solidFill>
                <a:latin typeface="Arial"/>
                <a:ea typeface="Arial"/>
                <a:cs typeface="Arial"/>
              </a:rPr>
              <a:t>Сквер рядом с Бәйтереком, 9 мин пути + 20 мин остановки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15AAD-B0F3-4E06-BF56-5EC9025F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62300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CF45D2-666D-4E33-9DF0-2F251194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956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defPPr>
            <a:lvl1pPr algn="l">
              <a:defRPr sz="247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47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47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47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47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47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47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47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47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47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pPr>
            <a:r>
              <a:rPr sz="2475" b="0" i="0">
                <a:solidFill>
                  <a:srgbClr val="175242"/>
                </a:solidFill>
                <a:latin typeface="Georgia"/>
                <a:ea typeface="Georgia"/>
                <a:cs typeface="Georgia"/>
              </a:rPr>
              <a:t>60 минут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D3590D-8127-44BB-B350-1C5CDF92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956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2E2A"/>
                </a:solidFill>
                <a:latin typeface="Arial"/>
                <a:ea typeface="Arial"/>
                <a:cs typeface="Arial"/>
              </a:rPr>
              <a:t>В помещении, кофе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403F2E-D2DF-469D-99E8-10DAFB9E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762375"/>
            <a:ext cx="8096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66E67"/>
                </a:solidFill>
                <a:latin typeface="Arial"/>
                <a:ea typeface="Arial"/>
                <a:cs typeface="Arial"/>
              </a:rPr>
              <a:t>Категория и близость без выдуманных удобств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706317-9C66-41E1-B0A4-51A4B7A3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14850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C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266D70-FF7E-4A41-A4BE-3F895F49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482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defPPr>
            <a:lvl1pPr algn="l">
              <a:defRPr sz="247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47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47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47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47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47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47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47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47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47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pPr>
            <a:r>
              <a:rPr sz="2475" b="0" i="0">
                <a:solidFill>
                  <a:srgbClr val="175242"/>
                </a:solidFill>
                <a:latin typeface="Georgia"/>
                <a:ea typeface="Georgia"/>
                <a:cs typeface="Georgia"/>
              </a:rPr>
              <a:t>120 минут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CCD50C-65EC-4A1F-9604-A5A144DA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64820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2E2A"/>
                </a:solidFill>
                <a:latin typeface="Arial"/>
                <a:ea typeface="Arial"/>
                <a:cs typeface="Arial"/>
              </a:rPr>
              <a:t>С ребёнком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0189A2-B249-4779-898E-2D42A724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14925"/>
            <a:ext cx="8096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66E67"/>
                </a:solidFill>
                <a:latin typeface="Arial"/>
                <a:ea typeface="Arial"/>
                <a:cs typeface="Arial"/>
              </a:rPr>
              <a:t>Детский контекст влияет на выбор; удобства не подтверждаются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38C826-F253-41F5-90FC-CF331922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67400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C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70BB90-4A0F-4284-95C5-52D25C46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3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C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C93BF4-38AF-4C51-AB45-76FB7820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1083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66E67"/>
                </a:solidFill>
                <a:latin typeface="Arial"/>
                <a:ea typeface="Arial"/>
                <a:cs typeface="Arial"/>
              </a:rPr>
              <a:t>Каждая карточка — отдельный вариант. Сумма оценки пути до места и визита укладывается в лимит.</a:t>
            </a:r>
          </a:p>
        </p:txBody>
      </p:sp>
    </p:spTree>
    <p:extLst>
      <p:ext uri="{BB962C8B-B14F-4D97-AF65-F5344CB8AC3E}">
        <p14:creationId xmlns:p14="http://schemas.microsoft.com/office/powerpoint/2010/main" val="6381364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3B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F5CE41-E17B-4336-AC2D-3760A195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19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 i="0">
                <a:solidFill>
                  <a:srgbClr val="F4F3EB"/>
                </a:solidFill>
                <a:latin typeface="Georgia"/>
                <a:ea typeface="Georgia"/>
                <a:cs typeface="Georgia"/>
              </a:defRPr>
            </a:defPPr>
            <a:lvl1pPr algn="l">
              <a:defRPr sz="3600" b="0" i="0">
                <a:solidFill>
                  <a:srgbClr val="F4F3EB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600" b="0" i="0">
                <a:solidFill>
                  <a:srgbClr val="F4F3EB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600" b="0" i="0">
                <a:solidFill>
                  <a:srgbClr val="F4F3EB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600" b="0" i="0">
                <a:solidFill>
                  <a:srgbClr val="F4F3EB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600" b="0" i="0">
                <a:solidFill>
                  <a:srgbClr val="F4F3EB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600" b="0" i="0">
                <a:solidFill>
                  <a:srgbClr val="F4F3EB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600" b="0" i="0">
                <a:solidFill>
                  <a:srgbClr val="F4F3EB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600" b="0" i="0">
                <a:solidFill>
                  <a:srgbClr val="F4F3EB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600" b="0" i="0">
                <a:solidFill>
                  <a:srgbClr val="F4F3EB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600" b="0" i="0">
                <a:solidFill>
                  <a:srgbClr val="F4F3EB"/>
                </a:solidFill>
                <a:latin typeface="Georgia"/>
                <a:ea typeface="Georgia"/>
                <a:cs typeface="Georgia"/>
              </a:defRPr>
            </a:pPr>
            <a:r>
              <a:rPr sz="3600" b="0" i="0">
                <a:solidFill>
                  <a:srgbClr val="F4F3EB"/>
                </a:solidFill>
                <a:latin typeface="Georgia"/>
                <a:ea typeface="Georgia"/>
                <a:cs typeface="Georgia"/>
              </a:rPr>
              <a:t>Границы доверия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0D734E-E14B-432C-801E-E825AEB2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67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1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1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1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1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1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1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1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1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1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1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D4E5B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87A798-A53C-4926-BCAB-3513877E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3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4807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C54659-6DB8-4119-9FD7-84845D68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14525"/>
            <a:ext cx="4286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D4E5B8"/>
                </a:solidFill>
                <a:latin typeface="Arial"/>
                <a:ea typeface="Arial"/>
                <a:cs typeface="Arial"/>
              </a:rPr>
              <a:t>Часы работы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5E3E5A-ED9F-46D8-AEDA-99FE877E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10363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 i="0">
                <a:solidFill>
                  <a:srgbClr val="F4F3E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 i="0">
                <a:solidFill>
                  <a:srgbClr val="F4F3E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 i="0">
                <a:solidFill>
                  <a:srgbClr val="F4F3E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 i="0">
                <a:solidFill>
                  <a:srgbClr val="F4F3E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 i="0">
                <a:solidFill>
                  <a:srgbClr val="F4F3E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 i="0">
                <a:solidFill>
                  <a:srgbClr val="F4F3E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 i="0">
                <a:solidFill>
                  <a:srgbClr val="F4F3E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 i="0">
                <a:solidFill>
                  <a:srgbClr val="F4F3E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 i="0">
                <a:solidFill>
                  <a:srgbClr val="F4F3E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 i="0">
                <a:solidFill>
                  <a:srgbClr val="F4F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 i="0">
                <a:solidFill>
                  <a:srgbClr val="F4F3EB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F4F3EB"/>
                </a:solidFill>
                <a:latin typeface="Arial"/>
                <a:ea typeface="Arial"/>
                <a:cs typeface="Arial"/>
              </a:rPr>
              <a:t>Запрос «открыто сейчас» получает честный отказ,</a:t>
            </a:r>
          </a:p>
          <a:p xmlns:a="http://schemas.openxmlformats.org/drawingml/2006/main">
            <a:pPr algn="l">
              <a:defRPr sz="2025" b="0" i="0">
                <a:solidFill>
                  <a:srgbClr val="F4F3EB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F4F3EB"/>
                </a:solidFill>
                <a:latin typeface="Arial"/>
                <a:ea typeface="Arial"/>
                <a:cs typeface="Arial"/>
              </a:rPr>
              <a:t>пока нет проверенных актуальных часов.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48C51E-7C00-4129-91B8-AA19D173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4807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757E84-DD7C-4AF9-91FA-90E68D16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 i="0">
                <a:solidFill>
                  <a:srgbClr val="D4E5B8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D4E5B8"/>
                </a:solidFill>
                <a:latin typeface="Arial"/>
                <a:ea typeface="Arial"/>
                <a:cs typeface="Arial"/>
              </a:rPr>
              <a:t>Время и маршруты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46782E-2846-4251-AC74-744DB706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10287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F4F3E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 i="0">
                <a:solidFill>
                  <a:srgbClr val="F4F3E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 i="0">
                <a:solidFill>
                  <a:srgbClr val="F4F3E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 i="0">
                <a:solidFill>
                  <a:srgbClr val="F4F3E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 i="0">
                <a:solidFill>
                  <a:srgbClr val="F4F3E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 i="0">
                <a:solidFill>
                  <a:srgbClr val="F4F3E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 i="0">
                <a:solidFill>
                  <a:srgbClr val="F4F3E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 i="0">
                <a:solidFill>
                  <a:srgbClr val="F4F3E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 i="0">
                <a:solidFill>
                  <a:srgbClr val="F4F3E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 i="0">
                <a:solidFill>
                  <a:srgbClr val="F4F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 i="0">
                <a:solidFill>
                  <a:srgbClr val="F4F3EB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4F3EB"/>
                </a:solidFill>
                <a:latin typeface="Arial"/>
                <a:ea typeface="Arial"/>
                <a:cs typeface="Arial"/>
              </a:rPr>
              <a:t>Путь — приблизительная оценка. Внешняя карта</a:t>
            </a:r>
          </a:p>
          <a:p xmlns:a="http://schemas.openxmlformats.org/drawingml/2006/main">
            <a:pPr algn="l">
              <a:defRPr sz="1875" b="0" i="0">
                <a:solidFill>
                  <a:srgbClr val="F4F3EB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4F3EB"/>
                </a:solidFill>
                <a:latin typeface="Arial"/>
                <a:ea typeface="Arial"/>
                <a:cs typeface="Arial"/>
              </a:rPr>
              <a:t>открывается по нажатию.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738C6C-E7EA-45C7-9F49-AD816607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959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BBD1C4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 i="0">
                <a:solidFill>
                  <a:srgbClr val="BBD1C4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 i="0">
                <a:solidFill>
                  <a:srgbClr val="BBD1C4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 i="0">
                <a:solidFill>
                  <a:srgbClr val="BBD1C4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 i="0">
                <a:solidFill>
                  <a:srgbClr val="BBD1C4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 i="0">
                <a:solidFill>
                  <a:srgbClr val="BBD1C4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 i="0">
                <a:solidFill>
                  <a:srgbClr val="BBD1C4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 i="0">
                <a:solidFill>
                  <a:srgbClr val="BBD1C4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 i="0">
                <a:solidFill>
                  <a:srgbClr val="BBD1C4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 i="0">
                <a:solidFill>
                  <a:srgbClr val="BBD1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BBD1C4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BBD1C4"/>
                </a:solidFill>
                <a:latin typeface="Arial"/>
                <a:ea typeface="Arial"/>
                <a:cs typeface="Arial"/>
              </a:rPr>
              <a:t>Идея ИИ помечена отдельно. Геопозиция не сохраняется в нашей базе.</a:t>
            </a:r>
          </a:p>
        </p:txBody>
      </p:sp>
    </p:spTree>
    <p:extLst>
      <p:ext uri="{BB962C8B-B14F-4D97-AF65-F5344CB8AC3E}">
        <p14:creationId xmlns:p14="http://schemas.microsoft.com/office/powerpoint/2010/main" val="8169483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CF1660-2D1B-4C80-A488-7197462D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19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defPPr>
            <a:lvl1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pPr>
            <a:r>
              <a: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rPr>
              <a:t>Кому может быть нужен «Рядом»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C59673-D5A9-4966-8DC5-4EAB2F35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67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524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F735E-765E-46CB-9B7B-C26999E7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3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361F4-B010-427D-BF4D-67C01CDA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62150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defPPr>
            <a:lvl1pPr algn="l">
              <a:defRPr sz="3000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000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000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000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000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000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000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000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000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000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pPr>
            <a:r>
              <a:rPr sz="3000" b="0" i="0">
                <a:solidFill>
                  <a:srgbClr val="175242"/>
                </a:solidFill>
                <a:latin typeface="Georgia"/>
                <a:ea typeface="Georgia"/>
                <a:cs typeface="Georgia"/>
              </a:rPr>
              <a:t>Для человека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D4555-6753-4219-B1A1-B1B236B6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09850"/>
            <a:ext cx="4857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72E2A"/>
                </a:solidFill>
                <a:latin typeface="Arial"/>
                <a:ea typeface="Arial"/>
                <a:cs typeface="Arial"/>
              </a:rPr>
              <a:t>Бесплатный быстрый выбор места</a:t>
            </a:r>
          </a:p>
          <a:p xmlns:a="http://schemas.openxmlformats.org/drawingml/2006/main">
            <a:pPr algn="l">
              <a:defRPr sz="202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72E2A"/>
                </a:solidFill>
                <a:latin typeface="Arial"/>
                <a:ea typeface="Arial"/>
                <a:cs typeface="Arial"/>
              </a:rPr>
              <a:t>рядом с текущим стартом.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870050-D06A-4A7C-827C-DEAB4F60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9240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D435F7-AC4D-438B-926F-C5F27E78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6215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defPPr>
            <a:lvl1pPr algn="l">
              <a:defRPr sz="3000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000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000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000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000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000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000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000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000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000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pPr>
            <a:r>
              <a:rPr sz="3000" b="0" i="0">
                <a:solidFill>
                  <a:srgbClr val="175242"/>
                </a:solidFill>
                <a:latin typeface="Georgia"/>
                <a:ea typeface="Georgia"/>
                <a:cs typeface="Georgia"/>
              </a:rPr>
              <a:t>Для партнёра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F310CA-0291-4E05-83FA-2C8B9F24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09850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72E2A"/>
                </a:solidFill>
                <a:latin typeface="Arial"/>
                <a:ea typeface="Arial"/>
                <a:cs typeface="Arial"/>
              </a:rPr>
              <a:t>Гипотеза: туристическим организациям</a:t>
            </a:r>
          </a:p>
          <a:p xmlns:a="http://schemas.openxmlformats.org/drawingml/2006/main">
            <a:pPr algn="l">
              <a:defRPr sz="18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72E2A"/>
                </a:solidFill>
                <a:latin typeface="Arial"/>
                <a:ea typeface="Arial"/>
                <a:cs typeface="Arial"/>
              </a:rPr>
              <a:t>и гостиницам полезен такой помощник</a:t>
            </a:r>
          </a:p>
          <a:p xmlns:a="http://schemas.openxmlformats.org/drawingml/2006/main">
            <a:pPr algn="l">
              <a:defRPr sz="18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72E2A"/>
                </a:solidFill>
                <a:latin typeface="Arial"/>
                <a:ea typeface="Arial"/>
                <a:cs typeface="Arial"/>
              </a:rPr>
              <a:t>со своим каталогом и поддержкой.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F4B156-7FD4-4B14-81B2-E103B5C1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057775"/>
            <a:ext cx="10382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66E67"/>
                </a:solidFill>
                <a:latin typeface="Arial"/>
                <a:ea typeface="Arial"/>
                <a:cs typeface="Arial"/>
              </a:rPr>
              <a:t>Спрос и модель оплаты предстоит проверить в пилоте. Пользовательской статистики пока нет.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57D760-7BCA-485D-A97C-4C7F522C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3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C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EC909D-9643-4576-A76E-DA21623B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1083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66E67"/>
                </a:solidFill>
                <a:latin typeface="Arial"/>
                <a:ea typeface="Arial"/>
                <a:cs typeface="Arial"/>
              </a:rPr>
              <a:t>Бизнес-модель — гипотеза, без заявлений о выручке или подтверждённом спросе.</a:t>
            </a:r>
          </a:p>
        </p:txBody>
      </p:sp>
    </p:spTree>
    <p:extLst>
      <p:ext uri="{BB962C8B-B14F-4D97-AF65-F5344CB8AC3E}">
        <p14:creationId xmlns:p14="http://schemas.microsoft.com/office/powerpoint/2010/main" val="2079404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2EDE0D-9BDF-40B0-8033-927A6EA1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19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defPPr>
            <a:lvl1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defRPr>
            </a:pPr>
            <a:r>
              <a:rPr sz="3600" b="0" i="0">
                <a:solidFill>
                  <a:srgbClr val="172E2A"/>
                </a:solidFill>
                <a:latin typeface="Georgia"/>
                <a:ea typeface="Georgia"/>
                <a:cs typeface="Georgia"/>
              </a:rPr>
              <a:t>Состояние пилота и следующий шаг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A4B675-94DE-4F55-A973-7C0ED2BB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67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17524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524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C7A512-B076-4834-8231-5EE3579E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3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D31E7B-4C24-4A21-BD15-3DBF0397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71675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defPPr>
            <a:lvl1pPr algn="l">
              <a:defRPr sz="3000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000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000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000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000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000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000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000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000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000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pPr>
            <a:r>
              <a:rPr sz="3000" b="0" i="0">
                <a:solidFill>
                  <a:srgbClr val="175242"/>
                </a:solidFill>
                <a:latin typeface="Georgia"/>
                <a:ea typeface="Georgia"/>
                <a:cs typeface="Georgia"/>
              </a:rPr>
              <a:t>Готово за день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7AECA9-446B-48AB-BFAC-05FE53E9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00325"/>
            <a:ext cx="5191125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72E2A"/>
                </a:solidFill>
                <a:latin typeface="Arial"/>
                <a:ea typeface="Arial"/>
                <a:cs typeface="Arial"/>
              </a:rPr>
              <a:t>Локальный Mini App</a:t>
            </a:r>
          </a:p>
          <a:p xmlns:a="http://schemas.openxmlformats.org/drawingml/2006/main">
            <a:pPr algn="l">
              <a:defRPr sz="1950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72E2A"/>
                </a:solidFill>
                <a:latin typeface="Arial"/>
                <a:ea typeface="Arial"/>
                <a:cs typeface="Arial"/>
              </a:rPr>
              <a:t>Скрипт сбора и каталог 27 POI</a:t>
            </a:r>
          </a:p>
          <a:p xmlns:a="http://schemas.openxmlformats.org/drawingml/2006/main">
            <a:pPr algn="l">
              <a:defRPr sz="1950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72E2A"/>
                </a:solidFill>
                <a:latin typeface="Arial"/>
                <a:ea typeface="Arial"/>
                <a:cs typeface="Arial"/>
              </a:rPr>
              <a:t>Подбор, проверки и резервный режим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E01C4-55EA-406B-B3F3-2E438C76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71675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defPPr>
            <a:lvl1pPr algn="l">
              <a:defRPr sz="292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92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92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92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92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92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92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92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92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925" b="0" i="0">
                <a:solidFill>
                  <a:srgbClr val="175242"/>
                </a:solidFill>
                <a:latin typeface="Georgia"/>
                <a:ea typeface="Georgia"/>
                <a:cs typeface="Georgia"/>
              </a:defRPr>
            </a:pPr>
            <a:r>
              <a:rPr sz="2925" b="0" i="0">
                <a:solidFill>
                  <a:srgbClr val="175242"/>
                </a:solidFill>
                <a:latin typeface="Georgia"/>
                <a:ea typeface="Georgia"/>
                <a:cs typeface="Georgia"/>
              </a:rPr>
              <a:t>Проверить перед сдачей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8EF759-6C53-439A-87DD-80C7DFB9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00325"/>
            <a:ext cx="5143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72E2A"/>
                </a:solidFill>
                <a:latin typeface="Arial"/>
                <a:ea typeface="Arial"/>
                <a:cs typeface="Arial"/>
              </a:rPr>
              <a:t>Подключить Telegram и модель</a:t>
            </a:r>
          </a:p>
          <a:p xmlns:a="http://schemas.openxmlformats.org/drawingml/2006/main">
            <a:pPr algn="l">
              <a:defRPr sz="18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72E2A"/>
                </a:solidFill>
                <a:latin typeface="Arial"/>
                <a:ea typeface="Arial"/>
                <a:cs typeface="Arial"/>
              </a:rPr>
              <a:t>Проверить на телефоне входы и часы</a:t>
            </a:r>
          </a:p>
          <a:p xmlns:a="http://schemas.openxmlformats.org/drawingml/2006/main">
            <a:pPr algn="l">
              <a:defRPr sz="1875" b="0" i="0">
                <a:solidFill>
                  <a:srgbClr val="172E2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72E2A"/>
                </a:solidFill>
                <a:latin typeface="Arial"/>
                <a:ea typeface="Arial"/>
                <a:cs typeface="Arial"/>
              </a:rPr>
              <a:t>Записать видео демо и приложить ссылку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00FCDE-7917-480D-9B72-6A0AF14C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629150"/>
            <a:ext cx="1072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5C33EB-0077-408C-A80F-4EA5D2B8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14900"/>
            <a:ext cx="10591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566E67"/>
                </a:solidFill>
                <a:latin typeface="Arial"/>
                <a:ea typeface="Arial"/>
                <a:cs typeface="Arial"/>
              </a:rPr>
              <a:t>После пилота: проверить входы и часы POI, затем расширять покрытие и подключать маршрутизацию.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6DF50A-1436-4C6E-9C0F-BDEBE6B6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3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C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382DC6-1D8C-4A36-B596-5E8A3153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1083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566E6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66E67"/>
                </a:solidFill>
                <a:latin typeface="Arial"/>
                <a:ea typeface="Arial"/>
                <a:cs typeface="Arial"/>
              </a:rPr>
              <a:t>Текущий статус: публичное развёртывание и испытание в Telegram ожидают учётных данных.</a:t>
            </a:r>
          </a:p>
        </p:txBody>
      </p:sp>
    </p:spTree>
    <p:extLst>
      <p:ext uri="{BB962C8B-B14F-4D97-AF65-F5344CB8AC3E}">
        <p14:creationId xmlns:p14="http://schemas.microsoft.com/office/powerpoint/2010/main" val="1729985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2026-10-18T16:05:30.1670000Z</dcterms:created>
  <dcterms:modified xsi:type="dcterms:W3CDTF">2026-10-18T16:05:30.1680000Z</dcterms:modified>
</coreProperties>
</file>